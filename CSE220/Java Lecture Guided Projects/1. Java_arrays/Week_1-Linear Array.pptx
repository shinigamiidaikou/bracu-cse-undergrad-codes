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E0BF25-B014-4B7A-A1EC-F1A150BB2EA9}">
  <a:tblStyle styleId="{29E0BF25-B014-4B7A-A1EC-F1A150BB2E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5.xml"/><Relationship Id="rId22" Type="http://schemas.openxmlformats.org/officeDocument/2006/relationships/font" Target="fonts/Roboto-italic.fntdata"/><Relationship Id="rId10" Type="http://schemas.openxmlformats.org/officeDocument/2006/relationships/slide" Target="slides/slide4.xml"/><Relationship Id="rId21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90d6f8377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590d6f8377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962d4ed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962d4ed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df482863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df482863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5962d4eda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5962d4eda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5962d4eda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5962d4eda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962d4eda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962d4eda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5962d4eda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5962d4eda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5df482863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5df482863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5df482863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5df482863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5962d4eda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5962d4eda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5962d4eda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5962d4eda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5df482863e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5df48286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CSE 220</a:t>
            </a:r>
            <a:endParaRPr b="1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Week 1 - Linear Array</a:t>
            </a:r>
            <a:endParaRPr b="1" sz="1700"/>
          </a:p>
        </p:txBody>
      </p:sp>
      <p:sp>
        <p:nvSpPr>
          <p:cNvPr id="87" name="Google Shape;87;p13"/>
          <p:cNvSpPr txBox="1"/>
          <p:nvPr/>
        </p:nvSpPr>
        <p:spPr>
          <a:xfrm>
            <a:off x="492450" y="3365700"/>
            <a:ext cx="8328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Aminul Huq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Lecturer 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Dept. of CSE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BRAC University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Array	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linear array is a list of </a:t>
            </a:r>
            <a:r>
              <a:rPr b="1" lang="en"/>
              <a:t>finite</a:t>
            </a:r>
            <a:r>
              <a:rPr lang="en"/>
              <a:t> </a:t>
            </a:r>
            <a:r>
              <a:rPr b="1" lang="en"/>
              <a:t>number n</a:t>
            </a:r>
            <a:r>
              <a:rPr lang="en"/>
              <a:t> of </a:t>
            </a:r>
            <a:r>
              <a:rPr lang="en"/>
              <a:t>homogeneous</a:t>
            </a:r>
            <a:r>
              <a:rPr lang="en"/>
              <a:t> data elements.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The elements of the array are referenced respectively by an </a:t>
            </a:r>
            <a:r>
              <a:rPr b="1" lang="en"/>
              <a:t>index</a:t>
            </a:r>
            <a:r>
              <a:rPr lang="en"/>
              <a:t> set consisting of </a:t>
            </a:r>
            <a:r>
              <a:rPr b="1" lang="en"/>
              <a:t>n consecutive numbers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The elements of the array are stored respectively in </a:t>
            </a:r>
            <a:r>
              <a:rPr b="1" lang="en"/>
              <a:t>successive</a:t>
            </a:r>
            <a:r>
              <a:rPr lang="en"/>
              <a:t> memory locations.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Array</a:t>
            </a:r>
            <a:endParaRPr/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1374025" y="182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84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0" name="Google Shape;100;p15"/>
          <p:cNvGraphicFramePr/>
          <p:nvPr/>
        </p:nvGraphicFramePr>
        <p:xfrm>
          <a:off x="2244550" y="182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8067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" name="Google Shape;101;p15"/>
          <p:cNvSpPr txBox="1"/>
          <p:nvPr/>
        </p:nvSpPr>
        <p:spPr>
          <a:xfrm>
            <a:off x="1427350" y="1439475"/>
            <a:ext cx="7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317613" y="1439475"/>
            <a:ext cx="66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Index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3" name="Google Shape;103;p15"/>
          <p:cNvGraphicFramePr/>
          <p:nvPr/>
        </p:nvGraphicFramePr>
        <p:xfrm>
          <a:off x="689000" y="182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660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FFFA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FFFB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FFFC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FFFD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FFFE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FFFF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" name="Google Shape;104;p15"/>
          <p:cNvSpPr txBox="1"/>
          <p:nvPr/>
        </p:nvSpPr>
        <p:spPr>
          <a:xfrm>
            <a:off x="503475" y="1439475"/>
            <a:ext cx="10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380600" y="1759575"/>
            <a:ext cx="4039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length or size  = UB - LB +1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Where,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	  UB = Upper Index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	  LB = Lower Index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 python we can use len() function to get length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Array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= [135, 29, 428, 61, 37, 0, 0]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print(LA[0])      # 135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print(LA[1])      # 29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print(LA[2])      # 428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print(LA[3])      # 61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print(LA[4])      # 37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print(LA[5])      #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print(LA[6])      # 0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4989100" y="2176325"/>
            <a:ext cx="321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print(len(LA))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=&gt; 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4989100" y="3219650"/>
            <a:ext cx="376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Remember size and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length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are different!!!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Array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array = [0] * 10 # creating  a list with 10 empty/0 elements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n = 5         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array[0]=3        # assigning value to first index 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array[1]=5        # assigning value to second index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j=0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while j&lt;n: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    print(array[j]) # printing values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    j=j+1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Traversal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A Linear array 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Any process performed on 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k := LB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while k &lt;= 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apply PROCESS to LA[k]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set k = k + 1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end while</a:t>
            </a:r>
            <a:endParaRPr/>
          </a:p>
        </p:txBody>
      </p:sp>
      <p:graphicFrame>
        <p:nvGraphicFramePr>
          <p:cNvPr id="126" name="Google Shape;126;p18"/>
          <p:cNvGraphicFramePr/>
          <p:nvPr/>
        </p:nvGraphicFramePr>
        <p:xfrm>
          <a:off x="5399000" y="23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7" name="Google Shape;127;p18"/>
          <p:cNvGraphicFramePr/>
          <p:nvPr/>
        </p:nvGraphicFramePr>
        <p:xfrm>
          <a:off x="5399000" y="289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8" name="Google Shape;128;p18"/>
          <p:cNvSpPr txBox="1"/>
          <p:nvPr/>
        </p:nvSpPr>
        <p:spPr>
          <a:xfrm>
            <a:off x="4659500" y="2371650"/>
            <a:ext cx="7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659500" y="2892500"/>
            <a:ext cx="7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Index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" name="Google Shape;130;p18"/>
          <p:cNvCxnSpPr/>
          <p:nvPr/>
        </p:nvCxnSpPr>
        <p:spPr>
          <a:xfrm>
            <a:off x="5630550" y="1684800"/>
            <a:ext cx="0" cy="54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8"/>
          <p:cNvCxnSpPr/>
          <p:nvPr/>
        </p:nvCxnSpPr>
        <p:spPr>
          <a:xfrm>
            <a:off x="6129700" y="1684800"/>
            <a:ext cx="0" cy="54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8"/>
          <p:cNvCxnSpPr/>
          <p:nvPr/>
        </p:nvCxnSpPr>
        <p:spPr>
          <a:xfrm>
            <a:off x="8115475" y="1684800"/>
            <a:ext cx="0" cy="54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18"/>
          <p:cNvCxnSpPr/>
          <p:nvPr/>
        </p:nvCxnSpPr>
        <p:spPr>
          <a:xfrm>
            <a:off x="6607650" y="1684800"/>
            <a:ext cx="0" cy="54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8"/>
          <p:cNvCxnSpPr/>
          <p:nvPr/>
        </p:nvCxnSpPr>
        <p:spPr>
          <a:xfrm>
            <a:off x="7107275" y="1684800"/>
            <a:ext cx="0" cy="54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18"/>
          <p:cNvCxnSpPr/>
          <p:nvPr/>
        </p:nvCxnSpPr>
        <p:spPr>
          <a:xfrm>
            <a:off x="7574375" y="1684800"/>
            <a:ext cx="0" cy="54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array left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Linear array</a:t>
            </a:r>
            <a:r>
              <a:rPr b="1" lang="en"/>
              <a:t> LA </a:t>
            </a:r>
            <a:r>
              <a:rPr lang="en"/>
              <a:t>with</a:t>
            </a:r>
            <a:r>
              <a:rPr b="1" lang="en"/>
              <a:t> n </a:t>
            </a:r>
            <a:r>
              <a:rPr lang="en"/>
              <a:t>elements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ITEM = LA[0]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i = 1 to n - 1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LA[i-1] = LA[i]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end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LA[N-1] = NULL</a:t>
            </a:r>
            <a:endParaRPr/>
          </a:p>
        </p:txBody>
      </p:sp>
      <p:graphicFrame>
        <p:nvGraphicFramePr>
          <p:cNvPr id="142" name="Google Shape;142;p19"/>
          <p:cNvGraphicFramePr/>
          <p:nvPr/>
        </p:nvGraphicFramePr>
        <p:xfrm>
          <a:off x="5295875" y="217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4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3" name="Google Shape;143;p19"/>
          <p:cNvGraphicFramePr/>
          <p:nvPr/>
        </p:nvGraphicFramePr>
        <p:xfrm>
          <a:off x="5295875" y="270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4" name="Google Shape;144;p19"/>
          <p:cNvGraphicFramePr/>
          <p:nvPr/>
        </p:nvGraphicFramePr>
        <p:xfrm>
          <a:off x="5295875" y="1599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array right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Linear array</a:t>
            </a:r>
            <a:r>
              <a:rPr b="1" lang="en"/>
              <a:t> LA </a:t>
            </a:r>
            <a:r>
              <a:rPr lang="en"/>
              <a:t>with</a:t>
            </a:r>
            <a:r>
              <a:rPr b="1" lang="en"/>
              <a:t> n </a:t>
            </a:r>
            <a:r>
              <a:rPr lang="en"/>
              <a:t>elements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ITEM = LA[n-1]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i = n - 1 to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LA[i] = LA[i - 1]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end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LA[0] = NULL</a:t>
            </a:r>
            <a:endParaRPr/>
          </a:p>
        </p:txBody>
      </p:sp>
      <p:graphicFrame>
        <p:nvGraphicFramePr>
          <p:cNvPr id="151" name="Google Shape;151;p20"/>
          <p:cNvGraphicFramePr/>
          <p:nvPr/>
        </p:nvGraphicFramePr>
        <p:xfrm>
          <a:off x="5231425" y="217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4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2" name="Google Shape;152;p20"/>
          <p:cNvGraphicFramePr/>
          <p:nvPr/>
        </p:nvGraphicFramePr>
        <p:xfrm>
          <a:off x="5231425" y="270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3" name="Google Shape;153;p20"/>
          <p:cNvGraphicFramePr/>
          <p:nvPr/>
        </p:nvGraphicFramePr>
        <p:xfrm>
          <a:off x="5231425" y="1661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4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Rotating an array left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Linear array</a:t>
            </a:r>
            <a:r>
              <a:rPr b="1" lang="en"/>
              <a:t> LA </a:t>
            </a:r>
            <a:r>
              <a:rPr lang="en"/>
              <a:t>with</a:t>
            </a:r>
            <a:r>
              <a:rPr b="1" lang="en"/>
              <a:t> n </a:t>
            </a:r>
            <a:r>
              <a:rPr lang="en"/>
              <a:t>elements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ITEM = LA[0]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i = 1 to n - 1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LA[i-1] = LA[i]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end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LA[N-1] = ITEM</a:t>
            </a:r>
            <a:endParaRPr/>
          </a:p>
        </p:txBody>
      </p:sp>
      <p:graphicFrame>
        <p:nvGraphicFramePr>
          <p:cNvPr id="160" name="Google Shape;160;p21"/>
          <p:cNvGraphicFramePr/>
          <p:nvPr/>
        </p:nvGraphicFramePr>
        <p:xfrm>
          <a:off x="5295875" y="217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4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1" name="Google Shape;161;p21"/>
          <p:cNvGraphicFramePr/>
          <p:nvPr/>
        </p:nvGraphicFramePr>
        <p:xfrm>
          <a:off x="5295875" y="270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2" name="Google Shape;162;p21"/>
          <p:cNvGraphicFramePr/>
          <p:nvPr/>
        </p:nvGraphicFramePr>
        <p:xfrm>
          <a:off x="5295875" y="1599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Rotating an array right</a:t>
            </a:r>
            <a:endParaRPr/>
          </a:p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Linear array</a:t>
            </a:r>
            <a:r>
              <a:rPr b="1" lang="en"/>
              <a:t> LA </a:t>
            </a:r>
            <a:r>
              <a:rPr lang="en"/>
              <a:t>with</a:t>
            </a:r>
            <a:r>
              <a:rPr b="1" lang="en"/>
              <a:t> n </a:t>
            </a:r>
            <a:r>
              <a:rPr lang="en"/>
              <a:t>elements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ITEM = LA[n-1]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i = n - 1 to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LA[i] = LA[i - 1]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end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LA[0] = ITEM</a:t>
            </a:r>
            <a:endParaRPr/>
          </a:p>
        </p:txBody>
      </p:sp>
      <p:graphicFrame>
        <p:nvGraphicFramePr>
          <p:cNvPr id="169" name="Google Shape;169;p22"/>
          <p:cNvGraphicFramePr/>
          <p:nvPr/>
        </p:nvGraphicFramePr>
        <p:xfrm>
          <a:off x="5231425" y="217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4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0" name="Google Shape;170;p22"/>
          <p:cNvGraphicFramePr/>
          <p:nvPr/>
        </p:nvGraphicFramePr>
        <p:xfrm>
          <a:off x="5231425" y="270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1" name="Google Shape;171;p22"/>
          <p:cNvGraphicFramePr/>
          <p:nvPr/>
        </p:nvGraphicFramePr>
        <p:xfrm>
          <a:off x="5231425" y="1661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4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</a:t>
            </a:r>
            <a:endParaRPr/>
          </a:p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311700" y="11430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Linear array</a:t>
            </a:r>
            <a:r>
              <a:rPr b="1" lang="en"/>
              <a:t> LA </a:t>
            </a:r>
            <a:r>
              <a:rPr lang="en"/>
              <a:t>with</a:t>
            </a:r>
            <a:r>
              <a:rPr b="1" lang="en"/>
              <a:t> N </a:t>
            </a:r>
            <a:r>
              <a:rPr lang="en"/>
              <a:t>elements and </a:t>
            </a:r>
            <a:r>
              <a:rPr b="1" lang="en"/>
              <a:t>K is a positive integer</a:t>
            </a:r>
            <a:r>
              <a:rPr lang="en"/>
              <a:t> such that </a:t>
            </a:r>
            <a:r>
              <a:rPr b="1" lang="en"/>
              <a:t>K&lt;=N </a:t>
            </a:r>
            <a:r>
              <a:rPr lang="en"/>
              <a:t>and and </a:t>
            </a:r>
            <a:r>
              <a:rPr b="1" lang="en"/>
              <a:t>ITEM</a:t>
            </a:r>
            <a:r>
              <a:rPr lang="en"/>
              <a:t> is to be inserted into Kth position.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Remember: Size and length are two different things. Also check validity.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INSERT(LA, N, K, ITEM):</a:t>
            </a:r>
            <a:endParaRPr b="1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j = 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while j &gt;=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 LA[ j+1] = LA[ j 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 j = j - 1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LA[K] = ITEM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N = N </a:t>
            </a:r>
            <a:r>
              <a:rPr lang="en"/>
              <a:t>+</a:t>
            </a:r>
            <a:r>
              <a:rPr lang="en"/>
              <a:t> 1</a:t>
            </a:r>
            <a:endParaRPr/>
          </a:p>
        </p:txBody>
      </p:sp>
      <p:graphicFrame>
        <p:nvGraphicFramePr>
          <p:cNvPr id="178" name="Google Shape;178;p23"/>
          <p:cNvGraphicFramePr/>
          <p:nvPr/>
        </p:nvGraphicFramePr>
        <p:xfrm>
          <a:off x="5388575" y="2489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9" name="Google Shape;179;p23"/>
          <p:cNvGraphicFramePr/>
          <p:nvPr/>
        </p:nvGraphicFramePr>
        <p:xfrm>
          <a:off x="5388575" y="300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23"/>
          <p:cNvGraphicFramePr/>
          <p:nvPr/>
        </p:nvGraphicFramePr>
        <p:xfrm>
          <a:off x="5388575" y="352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</a:rPr>
                        <a:t>999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Deletion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Linear array</a:t>
            </a:r>
            <a:r>
              <a:rPr b="1" lang="en"/>
              <a:t> LA </a:t>
            </a:r>
            <a:r>
              <a:rPr lang="en"/>
              <a:t>with</a:t>
            </a:r>
            <a:r>
              <a:rPr b="1" lang="en"/>
              <a:t> N </a:t>
            </a:r>
            <a:r>
              <a:rPr lang="en"/>
              <a:t>elements and </a:t>
            </a:r>
            <a:r>
              <a:rPr b="1" lang="en"/>
              <a:t>K is a positive integer</a:t>
            </a:r>
            <a:r>
              <a:rPr lang="en"/>
              <a:t> such that </a:t>
            </a:r>
            <a:r>
              <a:rPr b="1" lang="en"/>
              <a:t>K&lt;=N </a:t>
            </a:r>
            <a:r>
              <a:rPr lang="en"/>
              <a:t>and and </a:t>
            </a:r>
            <a:r>
              <a:rPr b="1" lang="en"/>
              <a:t>ITEM</a:t>
            </a:r>
            <a:r>
              <a:rPr lang="en"/>
              <a:t> is to be deleted Kth position.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DELETE(LA,N,K,ITEM)</a:t>
            </a:r>
            <a:endParaRPr b="1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set ITEM = LA[K]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 j = K to N-1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   LA[j] = LA[j + 1]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end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 = N - 1</a:t>
            </a:r>
            <a:endParaRPr/>
          </a:p>
        </p:txBody>
      </p:sp>
      <p:graphicFrame>
        <p:nvGraphicFramePr>
          <p:cNvPr id="187" name="Google Shape;187;p24"/>
          <p:cNvGraphicFramePr/>
          <p:nvPr/>
        </p:nvGraphicFramePr>
        <p:xfrm>
          <a:off x="5399000" y="2322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3"/>
                          </a:solidFill>
                        </a:rPr>
                        <a:t>999</a:t>
                      </a:r>
                      <a:endParaRPr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24"/>
          <p:cNvGraphicFramePr/>
          <p:nvPr/>
        </p:nvGraphicFramePr>
        <p:xfrm>
          <a:off x="5399000" y="335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{29E0BF25-B014-4B7A-A1EC-F1A150BB2EA9}</a:tableStyleId>
              </a:tblPr>
              <a:tblGrid>
                <a:gridCol w="494350"/>
                <a:gridCol w="494350"/>
                <a:gridCol w="494350"/>
                <a:gridCol w="494350"/>
                <a:gridCol w="494350"/>
                <a:gridCol w="494350"/>
              </a:tblGrid>
              <a:tr h="35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4"/>
          <p:cNvSpPr txBox="1"/>
          <p:nvPr/>
        </p:nvSpPr>
        <p:spPr>
          <a:xfrm>
            <a:off x="5399000" y="2838250"/>
            <a:ext cx="148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ITEM = 999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Practise Tasks</a:t>
            </a:r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465800"/>
            <a:ext cx="78177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Copy an array from a </a:t>
            </a:r>
            <a:r>
              <a:rPr b="1" lang="en" sz="1600"/>
              <a:t>source array</a:t>
            </a:r>
            <a:r>
              <a:rPr lang="en" sz="1600"/>
              <a:t> to a </a:t>
            </a:r>
            <a:r>
              <a:rPr b="1" lang="en" sz="1600"/>
              <a:t>destination array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Resizing an array. (Hint: we can’t extend the size of an array.)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Reversing an array.(</a:t>
            </a:r>
            <a:r>
              <a:rPr b="1" lang="en" sz="1600"/>
              <a:t>out </a:t>
            </a:r>
            <a:r>
              <a:rPr lang="en" sz="1600"/>
              <a:t>of place)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Reversing an array.(</a:t>
            </a:r>
            <a:r>
              <a:rPr b="1" lang="en" sz="1600"/>
              <a:t>in</a:t>
            </a:r>
            <a:r>
              <a:rPr lang="en" sz="1600"/>
              <a:t> place) (Hint: perform swapping)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