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90d6f8377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90d6f837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90d6f8377_0_1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90d6f837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90d6f837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90d6f837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590d6f837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590d6f837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590d6f837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590d6f837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590d6f8377_0_1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590d6f837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962d4eda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962d4eda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CSE 220</a:t>
            </a:r>
            <a:endParaRPr b="1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Introduction</a:t>
            </a:r>
            <a:endParaRPr b="1" sz="1700"/>
          </a:p>
        </p:txBody>
      </p:sp>
      <p:sp>
        <p:nvSpPr>
          <p:cNvPr id="87" name="Google Shape;87;p13"/>
          <p:cNvSpPr txBox="1"/>
          <p:nvPr/>
        </p:nvSpPr>
        <p:spPr>
          <a:xfrm>
            <a:off x="545150" y="3371925"/>
            <a:ext cx="8328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Aminul Huq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Lecturer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Dept. of CSE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BRAC University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Marks Distribution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Attendance - 5%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Quiz - 15%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 - 25%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Mid term - 20%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Finals - 35%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Types 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Pseudocodes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Materials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Structures by Seymour Lipschutz - 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Concise</a:t>
            </a:r>
            <a:r>
              <a:rPr lang="en"/>
              <a:t> Notes (will be provided later)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Bux - Video Materials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•"/>
            </a:pPr>
            <a:r>
              <a:rPr lang="en">
                <a:solidFill>
                  <a:srgbClr val="000000"/>
                </a:solidFill>
              </a:rPr>
              <a:t>In computer science, a data structure is a </a:t>
            </a:r>
            <a:r>
              <a:rPr b="1" lang="en">
                <a:solidFill>
                  <a:srgbClr val="000000"/>
                </a:solidFill>
              </a:rPr>
              <a:t>data organization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lang="en">
                <a:solidFill>
                  <a:srgbClr val="000000"/>
                </a:solidFill>
              </a:rPr>
              <a:t>management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b="1" lang="en">
                <a:solidFill>
                  <a:srgbClr val="000000"/>
                </a:solidFill>
              </a:rPr>
              <a:t>storage format</a:t>
            </a:r>
            <a:r>
              <a:rPr lang="en">
                <a:solidFill>
                  <a:srgbClr val="000000"/>
                </a:solidFill>
              </a:rPr>
              <a:t> that enables </a:t>
            </a:r>
            <a:r>
              <a:rPr b="1" lang="en">
                <a:solidFill>
                  <a:srgbClr val="000000"/>
                </a:solidFill>
              </a:rPr>
              <a:t>efficient access and modification</a:t>
            </a:r>
            <a:r>
              <a:rPr lang="en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1651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•"/>
            </a:pPr>
            <a:r>
              <a:rPr lang="en">
                <a:solidFill>
                  <a:srgbClr val="000000"/>
                </a:solidFill>
              </a:rPr>
              <a:t>More precisely, a data structure is a collection of data values, the relationships among them, and the functions or operations that can be applied to the data.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study Data Structure ?	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dding structure to our </a:t>
            </a:r>
            <a:r>
              <a:rPr b="1" lang="en"/>
              <a:t>data</a:t>
            </a:r>
            <a:r>
              <a:rPr lang="en"/>
              <a:t> can make the </a:t>
            </a:r>
            <a:r>
              <a:rPr b="1" lang="en"/>
              <a:t>algorithms</a:t>
            </a:r>
            <a:r>
              <a:rPr lang="en"/>
              <a:t> much simpler, easier to maintain, and often faster.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	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Arrays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Linked List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 sz="2000"/>
              <a:t>Singly Linked List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 sz="2000"/>
              <a:t>Doubly Linked List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Stacks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Queues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Trees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Graphs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Others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1441900" y="1546300"/>
            <a:ext cx="1450200" cy="4383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</a:t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3371950" y="913475"/>
            <a:ext cx="1450200" cy="438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5291675" y="1546300"/>
            <a:ext cx="1450200" cy="4383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Non-Primitive</a:t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617700" y="277915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617700" y="331125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</a:t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17700" y="384335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</a:t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17700" y="437545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</a:t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3935375" y="2264438"/>
            <a:ext cx="1450200" cy="4383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</a:t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6741875" y="2264450"/>
            <a:ext cx="1450200" cy="4383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Non-Linear</a:t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3935375" y="298260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</a:t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3935375" y="357730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3935375" y="417200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6741875" y="302865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</a:t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6741875" y="367110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3935375" y="4766700"/>
            <a:ext cx="1450200" cy="4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  <p:cxnSp>
        <p:nvCxnSpPr>
          <p:cNvPr id="144" name="Google Shape;144;p20"/>
          <p:cNvCxnSpPr/>
          <p:nvPr/>
        </p:nvCxnSpPr>
        <p:spPr>
          <a:xfrm>
            <a:off x="4097050" y="1351775"/>
            <a:ext cx="0" cy="40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0"/>
          <p:cNvCxnSpPr>
            <a:endCxn id="131" idx="1"/>
          </p:cNvCxnSpPr>
          <p:nvPr/>
        </p:nvCxnSpPr>
        <p:spPr>
          <a:xfrm>
            <a:off x="2891975" y="1765450"/>
            <a:ext cx="239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0"/>
          <p:cNvCxnSpPr>
            <a:stCxn id="131" idx="2"/>
          </p:cNvCxnSpPr>
          <p:nvPr/>
        </p:nvCxnSpPr>
        <p:spPr>
          <a:xfrm>
            <a:off x="6016775" y="1984600"/>
            <a:ext cx="0" cy="5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>
            <a:stCxn id="136" idx="3"/>
            <a:endCxn id="137" idx="1"/>
          </p:cNvCxnSpPr>
          <p:nvPr/>
        </p:nvCxnSpPr>
        <p:spPr>
          <a:xfrm>
            <a:off x="5385575" y="2483588"/>
            <a:ext cx="135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3517425" y="2478400"/>
            <a:ext cx="0" cy="251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>
            <a:stCxn id="143" idx="1"/>
          </p:cNvCxnSpPr>
          <p:nvPr/>
        </p:nvCxnSpPr>
        <p:spPr>
          <a:xfrm rot="10800000">
            <a:off x="3512975" y="4985850"/>
            <a:ext cx="42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>
            <a:stCxn id="140" idx="1"/>
          </p:cNvCxnSpPr>
          <p:nvPr/>
        </p:nvCxnSpPr>
        <p:spPr>
          <a:xfrm rot="10800000">
            <a:off x="3517475" y="4391150"/>
            <a:ext cx="41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>
            <a:stCxn id="139" idx="1"/>
          </p:cNvCxnSpPr>
          <p:nvPr/>
        </p:nvCxnSpPr>
        <p:spPr>
          <a:xfrm rot="10800000">
            <a:off x="3516275" y="3796450"/>
            <a:ext cx="41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0"/>
          <p:cNvCxnSpPr>
            <a:stCxn id="138" idx="1"/>
          </p:cNvCxnSpPr>
          <p:nvPr/>
        </p:nvCxnSpPr>
        <p:spPr>
          <a:xfrm rot="10800000">
            <a:off x="3516275" y="3201750"/>
            <a:ext cx="41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0"/>
          <p:cNvCxnSpPr>
            <a:stCxn id="136" idx="1"/>
          </p:cNvCxnSpPr>
          <p:nvPr/>
        </p:nvCxnSpPr>
        <p:spPr>
          <a:xfrm rot="10800000">
            <a:off x="3515075" y="2483588"/>
            <a:ext cx="42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0"/>
          <p:cNvCxnSpPr>
            <a:stCxn id="137" idx="3"/>
          </p:cNvCxnSpPr>
          <p:nvPr/>
        </p:nvCxnSpPr>
        <p:spPr>
          <a:xfrm>
            <a:off x="8192075" y="2483600"/>
            <a:ext cx="33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0"/>
          <p:cNvCxnSpPr/>
          <p:nvPr/>
        </p:nvCxnSpPr>
        <p:spPr>
          <a:xfrm>
            <a:off x="8525950" y="2483650"/>
            <a:ext cx="0" cy="140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0"/>
          <p:cNvCxnSpPr>
            <a:stCxn id="142" idx="3"/>
          </p:cNvCxnSpPr>
          <p:nvPr/>
        </p:nvCxnSpPr>
        <p:spPr>
          <a:xfrm>
            <a:off x="8192075" y="3890250"/>
            <a:ext cx="3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0"/>
          <p:cNvCxnSpPr>
            <a:stCxn id="141" idx="3"/>
          </p:cNvCxnSpPr>
          <p:nvPr/>
        </p:nvCxnSpPr>
        <p:spPr>
          <a:xfrm>
            <a:off x="8192075" y="3247800"/>
            <a:ext cx="3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0"/>
          <p:cNvCxnSpPr>
            <a:stCxn id="129" idx="1"/>
          </p:cNvCxnSpPr>
          <p:nvPr/>
        </p:nvCxnSpPr>
        <p:spPr>
          <a:xfrm rot="10800000">
            <a:off x="420400" y="1765450"/>
            <a:ext cx="102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0"/>
          <p:cNvCxnSpPr/>
          <p:nvPr/>
        </p:nvCxnSpPr>
        <p:spPr>
          <a:xfrm>
            <a:off x="419400" y="1765925"/>
            <a:ext cx="0" cy="28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0"/>
          <p:cNvCxnSpPr>
            <a:stCxn id="135" idx="1"/>
            <a:endCxn id="135" idx="1"/>
          </p:cNvCxnSpPr>
          <p:nvPr/>
        </p:nvCxnSpPr>
        <p:spPr>
          <a:xfrm>
            <a:off x="617700" y="45946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0"/>
          <p:cNvCxnSpPr>
            <a:stCxn id="135" idx="1"/>
          </p:cNvCxnSpPr>
          <p:nvPr/>
        </p:nvCxnSpPr>
        <p:spPr>
          <a:xfrm rot="10800000">
            <a:off x="419700" y="4594600"/>
            <a:ext cx="19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0"/>
          <p:cNvCxnSpPr/>
          <p:nvPr/>
        </p:nvCxnSpPr>
        <p:spPr>
          <a:xfrm rot="10800000">
            <a:off x="414300" y="4062500"/>
            <a:ext cx="20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0"/>
          <p:cNvCxnSpPr>
            <a:stCxn id="133" idx="1"/>
          </p:cNvCxnSpPr>
          <p:nvPr/>
        </p:nvCxnSpPr>
        <p:spPr>
          <a:xfrm rot="10800000">
            <a:off x="417300" y="3530400"/>
            <a:ext cx="20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0"/>
          <p:cNvCxnSpPr>
            <a:stCxn id="132" idx="1"/>
          </p:cNvCxnSpPr>
          <p:nvPr/>
        </p:nvCxnSpPr>
        <p:spPr>
          <a:xfrm rot="10800000">
            <a:off x="418500" y="2998300"/>
            <a:ext cx="19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Practise</a:t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Input:</a:t>
            </a:r>
            <a:r>
              <a:rPr lang="en"/>
              <a:t> An array named arr[1,...,n] consisting of n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Output:</a:t>
            </a:r>
            <a:r>
              <a:rPr lang="en"/>
              <a:t> A sorted array arr[1,...,n]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for</a:t>
            </a:r>
            <a:r>
              <a:rPr lang="en"/>
              <a:t> i = 1 to n-1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min = 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</a:t>
            </a:r>
            <a:r>
              <a:rPr b="1" lang="en"/>
              <a:t>for</a:t>
            </a:r>
            <a:r>
              <a:rPr lang="en"/>
              <a:t> j = i +1 to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     </a:t>
            </a:r>
            <a:r>
              <a:rPr b="1" lang="en"/>
              <a:t>if</a:t>
            </a:r>
            <a:r>
              <a:rPr lang="en"/>
              <a:t> arr[j] &lt; arr[min] then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           min =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     </a:t>
            </a:r>
            <a:r>
              <a:rPr b="1" lang="en"/>
              <a:t>end if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</a:t>
            </a:r>
            <a:r>
              <a:rPr b="1" lang="en"/>
              <a:t>end for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swap arr[i], arr[min]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end for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